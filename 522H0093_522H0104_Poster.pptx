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Lst>
  <p:sldSz cy="30276800" cx="213741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45">
          <p15:clr>
            <a:srgbClr val="A4A3A4"/>
          </p15:clr>
        </p15:guide>
        <p15:guide id="2" pos="2880">
          <p15:clr>
            <a:srgbClr val="A4A3A4"/>
          </p15:clr>
        </p15:guide>
      </p15:sldGuideLst>
    </p:ext>
    <p:ext uri="GoogleSlidesCustomDataVersion2">
      <go:slidesCustomData xmlns:go="http://customooxmlschemas.google.com/" r:id="rId8" roundtripDataSignature="AMtx7mgapQY0HEPqUtSV4lrVfSD4PMVl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45E5FB3-8D81-49D8-8C2C-C462F429B81F}">
  <a:tblStyle styleId="{B45E5FB3-8D81-49D8-8C2C-C462F429B81F}"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395E1880-5C12-4A72-94B3-8FEEAC9D5E90}" styleName="Table_1">
    <a:wholeTbl>
      <a:tcTxStyle b="off" i="off">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45"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339975" y="1143000"/>
            <a:ext cx="217805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2339975" y="1143000"/>
            <a:ext cx="217805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Tên loại: Size: 48; Font: SVN Gilroy Xbold, In hoa tất cả</a:t>
            </a:r>
            <a:endParaRPr/>
          </a:p>
          <a:p>
            <a:pPr indent="0" lvl="0" marL="0" rtl="0" algn="l">
              <a:lnSpc>
                <a:spcPct val="100000"/>
              </a:lnSpc>
              <a:spcBef>
                <a:spcPts val="0"/>
              </a:spcBef>
              <a:spcAft>
                <a:spcPts val="0"/>
              </a:spcAft>
              <a:buSzPts val="1400"/>
              <a:buNone/>
            </a:pPr>
            <a:r>
              <a:rPr lang="en-US"/>
              <a:t>Năm - ngành: 36 (Năm: SVN Gilroy Semibold + Italic – Ngành: SVN Gilroy + Bold)</a:t>
            </a:r>
            <a:endParaRPr/>
          </a:p>
          <a:p>
            <a:pPr indent="0" lvl="0" marL="0" rtl="0" algn="l">
              <a:lnSpc>
                <a:spcPct val="100000"/>
              </a:lnSpc>
              <a:spcBef>
                <a:spcPts val="0"/>
              </a:spcBef>
              <a:spcAft>
                <a:spcPts val="0"/>
              </a:spcAft>
              <a:buSzPts val="1400"/>
              <a:buNone/>
            </a:pPr>
            <a:r>
              <a:rPr lang="en-US"/>
              <a:t>Tên đề tài: Size: 46; Font: SVN Gilroy + Bold</a:t>
            </a:r>
            <a:endParaRPr/>
          </a:p>
          <a:p>
            <a:pPr indent="0" lvl="0" marL="0" rtl="0" algn="l">
              <a:lnSpc>
                <a:spcPct val="100000"/>
              </a:lnSpc>
              <a:spcBef>
                <a:spcPts val="0"/>
              </a:spcBef>
              <a:spcAft>
                <a:spcPts val="0"/>
              </a:spcAft>
              <a:buSzPts val="1400"/>
              <a:buNone/>
            </a:pPr>
            <a:r>
              <a:rPr lang="en-US"/>
              <a:t>Tên người thực hiện: Size: 40; Font: SVN Gilroy + Italic</a:t>
            </a:r>
            <a:endParaRPr/>
          </a:p>
          <a:p>
            <a:pPr indent="0" lvl="0" marL="0" rtl="0" algn="l">
              <a:lnSpc>
                <a:spcPct val="100000"/>
              </a:lnSpc>
              <a:spcBef>
                <a:spcPts val="0"/>
              </a:spcBef>
              <a:spcAft>
                <a:spcPts val="0"/>
              </a:spcAft>
              <a:buSzPts val="1400"/>
              <a:buNone/>
            </a:pPr>
            <a:r>
              <a:rPr lang="en-US"/>
              <a:t>QR Code: 3’’ x 3’’</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Tên loại đề tài:</a:t>
            </a:r>
            <a:endParaRPr/>
          </a:p>
          <a:p>
            <a:pPr indent="-228600" lvl="0" marL="228600" rtl="0" algn="l">
              <a:lnSpc>
                <a:spcPct val="100000"/>
              </a:lnSpc>
              <a:spcBef>
                <a:spcPts val="0"/>
              </a:spcBef>
              <a:spcAft>
                <a:spcPts val="0"/>
              </a:spcAft>
              <a:buClr>
                <a:schemeClr val="dk1"/>
              </a:buClr>
              <a:buSzPts val="1200"/>
              <a:buFont typeface="Calibri"/>
              <a:buAutoNum type="arabicPeriod"/>
            </a:pPr>
            <a:r>
              <a:rPr lang="en-US"/>
              <a:t>ĐỀ TÀI NGHIÊN CỨU KHOA HỌC</a:t>
            </a:r>
            <a:endParaRPr/>
          </a:p>
          <a:p>
            <a:pPr indent="-228600" lvl="0" marL="228600" rtl="0" algn="l">
              <a:lnSpc>
                <a:spcPct val="100000"/>
              </a:lnSpc>
              <a:spcBef>
                <a:spcPts val="0"/>
              </a:spcBef>
              <a:spcAft>
                <a:spcPts val="0"/>
              </a:spcAft>
              <a:buClr>
                <a:schemeClr val="dk1"/>
              </a:buClr>
              <a:buSzPts val="1200"/>
              <a:buFont typeface="Calibri"/>
              <a:buAutoNum type="arabicPeriod"/>
            </a:pPr>
            <a:r>
              <a:rPr lang="en-US"/>
              <a:t>KHÓA LUẬN TỐT NGHIỆP</a:t>
            </a:r>
            <a:endParaRPr/>
          </a:p>
          <a:p>
            <a:pPr indent="-228600" lvl="0" marL="228600" rtl="0" algn="l">
              <a:lnSpc>
                <a:spcPct val="100000"/>
              </a:lnSpc>
              <a:spcBef>
                <a:spcPts val="0"/>
              </a:spcBef>
              <a:spcAft>
                <a:spcPts val="0"/>
              </a:spcAft>
              <a:buClr>
                <a:schemeClr val="dk1"/>
              </a:buClr>
              <a:buSzPts val="1200"/>
              <a:buFont typeface="Calibri"/>
              <a:buAutoNum type="arabicPeriod"/>
            </a:pPr>
            <a:r>
              <a:rPr lang="en-US"/>
              <a:t>BÀI BÁO KHOA HỌC</a:t>
            </a:r>
            <a:endParaRPr/>
          </a:p>
          <a:p>
            <a:pPr indent="-228600" lvl="0" marL="228600" rtl="0" algn="l">
              <a:lnSpc>
                <a:spcPct val="100000"/>
              </a:lnSpc>
              <a:spcBef>
                <a:spcPts val="0"/>
              </a:spcBef>
              <a:spcAft>
                <a:spcPts val="0"/>
              </a:spcAft>
              <a:buClr>
                <a:schemeClr val="dk1"/>
              </a:buClr>
              <a:buSzPts val="1200"/>
              <a:buFont typeface="Calibri"/>
              <a:buAutoNum type="arabicPeriod"/>
            </a:pPr>
            <a:r>
              <a:rPr lang="en-US"/>
              <a:t>NGHIÊN CỨU DOANH NGHIỆP</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1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1"/>
          <p:cNvSpPr/>
          <p:nvPr>
            <p:ph idx="2" type="pic"/>
          </p:nvPr>
        </p:nvSpPr>
        <p:spPr>
          <a:xfrm>
            <a:off x="1792288" y="612775"/>
            <a:ext cx="5486400" cy="4114800"/>
          </a:xfrm>
          <a:prstGeom prst="rect">
            <a:avLst/>
          </a:prstGeom>
          <a:noFill/>
          <a:ln>
            <a:noFill/>
          </a:ln>
        </p:spPr>
      </p:sp>
      <p:sp>
        <p:nvSpPr>
          <p:cNvPr id="68" name="Google Shape;68;p1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 name="Shape 88"/>
        <p:cNvGrpSpPr/>
        <p:nvPr/>
      </p:nvGrpSpPr>
      <p:grpSpPr>
        <a:xfrm>
          <a:off x="0" y="0"/>
          <a:ext cx="0" cy="0"/>
          <a:chOff x="0" y="0"/>
          <a:chExt cx="0" cy="0"/>
        </a:xfrm>
      </p:grpSpPr>
      <p:sp>
        <p:nvSpPr>
          <p:cNvPr id="89" name="Google Shape;89;p1"/>
          <p:cNvSpPr txBox="1"/>
          <p:nvPr/>
        </p:nvSpPr>
        <p:spPr>
          <a:xfrm>
            <a:off x="1230630" y="1751334"/>
            <a:ext cx="10439400" cy="554100"/>
          </a:xfrm>
          <a:prstGeom prst="rect">
            <a:avLst/>
          </a:prstGeom>
          <a:noFill/>
          <a:ln>
            <a:noFill/>
          </a:ln>
        </p:spPr>
        <p:txBody>
          <a:bodyPr anchorCtr="0" anchor="t" bIns="0" lIns="0" spcFirstLastPara="1" rIns="0" wrap="square" tIns="0">
            <a:spAutoFit/>
          </a:bodyPr>
          <a:lstStyle/>
          <a:p>
            <a:pPr indent="0" lvl="0" marL="0" marR="0" rtl="0" algn="l">
              <a:lnSpc>
                <a:spcPct val="163888"/>
              </a:lnSpc>
              <a:spcBef>
                <a:spcPts val="0"/>
              </a:spcBef>
              <a:spcAft>
                <a:spcPts val="0"/>
              </a:spcAft>
              <a:buClr>
                <a:srgbClr val="000000"/>
              </a:buClr>
              <a:buSzPts val="3600"/>
              <a:buFont typeface="Arial"/>
              <a:buNone/>
            </a:pPr>
            <a:r>
              <a:rPr b="0" i="1" lang="en-US" sz="3600" u="none" cap="none" strike="noStrike">
                <a:solidFill>
                  <a:schemeClr val="lt1"/>
                </a:solidFill>
                <a:latin typeface="Arial"/>
                <a:ea typeface="Arial"/>
                <a:cs typeface="Arial"/>
                <a:sym typeface="Arial"/>
              </a:rPr>
              <a:t>Year of implementation: 2026</a:t>
            </a:r>
            <a:endParaRPr b="1" i="0" sz="3600" u="none" cap="none" strike="noStrike">
              <a:solidFill>
                <a:schemeClr val="lt1"/>
              </a:solidFill>
              <a:latin typeface="Arial"/>
              <a:ea typeface="Arial"/>
              <a:cs typeface="Arial"/>
              <a:sym typeface="Arial"/>
            </a:endParaRPr>
          </a:p>
        </p:txBody>
      </p:sp>
      <p:sp>
        <p:nvSpPr>
          <p:cNvPr id="90" name="Google Shape;90;p1"/>
          <p:cNvSpPr txBox="1"/>
          <p:nvPr/>
        </p:nvSpPr>
        <p:spPr>
          <a:xfrm>
            <a:off x="1230623" y="903725"/>
            <a:ext cx="13615200" cy="738900"/>
          </a:xfrm>
          <a:prstGeom prst="rect">
            <a:avLst/>
          </a:prstGeom>
          <a:noFill/>
          <a:ln>
            <a:noFill/>
          </a:ln>
        </p:spPr>
        <p:txBody>
          <a:bodyPr anchorCtr="0" anchor="t" bIns="0" lIns="0" spcFirstLastPara="1" rIns="0" wrap="square" tIns="0">
            <a:spAutoFit/>
          </a:bodyPr>
          <a:lstStyle/>
          <a:p>
            <a:pPr indent="0" lvl="0" marL="0" marR="0" rtl="0" algn="l">
              <a:lnSpc>
                <a:spcPct val="122916"/>
              </a:lnSpc>
              <a:spcBef>
                <a:spcPts val="0"/>
              </a:spcBef>
              <a:spcAft>
                <a:spcPts val="0"/>
              </a:spcAft>
              <a:buClr>
                <a:srgbClr val="000000"/>
              </a:buClr>
              <a:buSzPts val="4800"/>
              <a:buFont typeface="Arial"/>
              <a:buNone/>
            </a:pPr>
            <a:r>
              <a:rPr b="0" i="0" lang="en-US" sz="4800" u="none" cap="none" strike="noStrike">
                <a:solidFill>
                  <a:schemeClr val="lt1"/>
                </a:solidFill>
                <a:latin typeface="Arial"/>
                <a:ea typeface="Arial"/>
                <a:cs typeface="Arial"/>
                <a:sym typeface="Arial"/>
              </a:rPr>
              <a:t>INFORMATION TECHNOLOGY PROJECT</a:t>
            </a:r>
            <a:endParaRPr b="0" i="0" sz="1400" u="none" cap="none" strike="noStrike">
              <a:solidFill>
                <a:srgbClr val="000000"/>
              </a:solidFill>
              <a:latin typeface="Arial"/>
              <a:ea typeface="Arial"/>
              <a:cs typeface="Arial"/>
              <a:sym typeface="Arial"/>
            </a:endParaRPr>
          </a:p>
        </p:txBody>
      </p:sp>
      <p:sp>
        <p:nvSpPr>
          <p:cNvPr id="91" name="Google Shape;91;p1"/>
          <p:cNvSpPr txBox="1"/>
          <p:nvPr/>
        </p:nvSpPr>
        <p:spPr>
          <a:xfrm>
            <a:off x="1230630" y="3175000"/>
            <a:ext cx="15167700" cy="1808700"/>
          </a:xfrm>
          <a:prstGeom prst="rect">
            <a:avLst/>
          </a:prstGeom>
          <a:noFill/>
          <a:ln>
            <a:noFill/>
          </a:ln>
        </p:spPr>
        <p:txBody>
          <a:bodyPr anchorCtr="0" anchor="t" bIns="0" lIns="0" spcFirstLastPara="1" rIns="0" wrap="square" tIns="0">
            <a:spAutoFit/>
          </a:bodyPr>
          <a:lstStyle/>
          <a:p>
            <a:pPr indent="0" lvl="0" marL="0" marR="0" rtl="0" algn="l">
              <a:lnSpc>
                <a:spcPct val="128259"/>
              </a:lnSpc>
              <a:spcBef>
                <a:spcPts val="0"/>
              </a:spcBef>
              <a:spcAft>
                <a:spcPts val="0"/>
              </a:spcAft>
              <a:buClr>
                <a:srgbClr val="000000"/>
              </a:buClr>
              <a:buSzPts val="4600"/>
              <a:buFont typeface="Arial"/>
              <a:buNone/>
            </a:pPr>
            <a:r>
              <a:rPr b="1" i="0" lang="en-US" sz="4600" u="none" cap="none" strike="noStrike">
                <a:solidFill>
                  <a:schemeClr val="lt1"/>
                </a:solidFill>
                <a:latin typeface="Arial"/>
                <a:ea typeface="Arial"/>
                <a:cs typeface="Arial"/>
                <a:sym typeface="Arial"/>
              </a:rPr>
              <a:t>T</a:t>
            </a:r>
            <a:r>
              <a:rPr b="1" lang="en-US" sz="4600">
                <a:solidFill>
                  <a:schemeClr val="lt1"/>
                </a:solidFill>
              </a:rPr>
              <a:t>itle</a:t>
            </a:r>
            <a:r>
              <a:rPr b="1" i="0" lang="en-US" sz="4600" u="none" cap="none" strike="noStrike">
                <a:solidFill>
                  <a:schemeClr val="lt1"/>
                </a:solidFill>
                <a:latin typeface="Arial"/>
                <a:ea typeface="Arial"/>
                <a:cs typeface="Arial"/>
                <a:sym typeface="Arial"/>
              </a:rPr>
              <a:t>: A Large-Scale Vietnamese News Dataset for Text Classification: Construction and Evaluation</a:t>
            </a:r>
            <a:endParaRPr b="0" i="0" sz="4600" u="none" cap="none" strike="noStrike">
              <a:solidFill>
                <a:srgbClr val="000000"/>
              </a:solidFill>
              <a:latin typeface="Arial"/>
              <a:ea typeface="Arial"/>
              <a:cs typeface="Arial"/>
              <a:sym typeface="Arial"/>
            </a:endParaRPr>
          </a:p>
        </p:txBody>
      </p:sp>
      <p:sp>
        <p:nvSpPr>
          <p:cNvPr id="92" name="Google Shape;92;p1"/>
          <p:cNvSpPr txBox="1"/>
          <p:nvPr/>
        </p:nvSpPr>
        <p:spPr>
          <a:xfrm>
            <a:off x="1206610" y="5085383"/>
            <a:ext cx="15167700" cy="615600"/>
          </a:xfrm>
          <a:prstGeom prst="rect">
            <a:avLst/>
          </a:prstGeom>
          <a:noFill/>
          <a:ln>
            <a:noFill/>
          </a:ln>
        </p:spPr>
        <p:txBody>
          <a:bodyPr anchorCtr="0" anchor="t" bIns="0" lIns="0" spcFirstLastPara="1" rIns="0" wrap="square" tIns="0">
            <a:spAutoFit/>
          </a:bodyPr>
          <a:lstStyle/>
          <a:p>
            <a:pPr indent="0" lvl="0" marL="0" marR="0" rtl="0" algn="l">
              <a:lnSpc>
                <a:spcPct val="147500"/>
              </a:lnSpc>
              <a:spcBef>
                <a:spcPts val="0"/>
              </a:spcBef>
              <a:spcAft>
                <a:spcPts val="0"/>
              </a:spcAft>
              <a:buClr>
                <a:srgbClr val="000000"/>
              </a:buClr>
              <a:buSzPts val="4000"/>
              <a:buFont typeface="Arial"/>
              <a:buNone/>
            </a:pPr>
            <a:r>
              <a:rPr b="0" i="1" lang="en-US" sz="4000" u="none" cap="none" strike="noStrike">
                <a:solidFill>
                  <a:schemeClr val="lt1"/>
                </a:solidFill>
                <a:latin typeface="Arial"/>
                <a:ea typeface="Arial"/>
                <a:cs typeface="Arial"/>
                <a:sym typeface="Arial"/>
              </a:rPr>
              <a:t>Châu Bảo Nhân¹, Huỳnh Đăng Khoa</a:t>
            </a:r>
            <a:r>
              <a:rPr b="0" baseline="30000" i="1" lang="en-US" sz="4000" u="none" cap="none" strike="noStrike">
                <a:solidFill>
                  <a:schemeClr val="lt1"/>
                </a:solidFill>
                <a:latin typeface="Arial"/>
                <a:ea typeface="Arial"/>
                <a:cs typeface="Arial"/>
                <a:sym typeface="Arial"/>
              </a:rPr>
              <a:t>²</a:t>
            </a:r>
            <a:r>
              <a:rPr b="0" i="1" lang="en-US" sz="4000" u="none" cap="none" strike="noStrike">
                <a:solidFill>
                  <a:schemeClr val="lt1"/>
                </a:solidFill>
                <a:latin typeface="Arial"/>
                <a:ea typeface="Arial"/>
                <a:cs typeface="Arial"/>
                <a:sym typeface="Arial"/>
              </a:rPr>
              <a:t>, Trần Thanh Phước</a:t>
            </a:r>
            <a:r>
              <a:rPr b="0" baseline="30000" i="1" lang="en-US" sz="4000" u="none" cap="none" strike="noStrike">
                <a:solidFill>
                  <a:schemeClr val="lt1"/>
                </a:solidFill>
                <a:latin typeface="Arial"/>
                <a:ea typeface="Arial"/>
                <a:cs typeface="Arial"/>
                <a:sym typeface="Arial"/>
              </a:rPr>
              <a:t>*</a:t>
            </a:r>
            <a:r>
              <a:rPr b="0" i="1" lang="en-US" sz="4000" u="none" cap="none" strike="noStrike">
                <a:solidFill>
                  <a:schemeClr val="lt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93" name="Google Shape;93;p1"/>
          <p:cNvSpPr txBox="1"/>
          <p:nvPr/>
        </p:nvSpPr>
        <p:spPr>
          <a:xfrm>
            <a:off x="1206610" y="6203073"/>
            <a:ext cx="15704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0" baseline="30000" i="1" lang="en-US" sz="2800" u="none" cap="none" strike="noStrike">
                <a:solidFill>
                  <a:schemeClr val="lt1"/>
                </a:solidFill>
                <a:latin typeface="Arial"/>
                <a:ea typeface="Arial"/>
                <a:cs typeface="Arial"/>
                <a:sym typeface="Arial"/>
              </a:rPr>
              <a:t>1,2 </a:t>
            </a:r>
            <a:r>
              <a:rPr b="0" i="1" lang="en-US" sz="2800" u="none" cap="none" strike="noStrike">
                <a:solidFill>
                  <a:schemeClr val="lt1"/>
                </a:solidFill>
                <a:latin typeface="Arial"/>
                <a:ea typeface="Arial"/>
                <a:cs typeface="Arial"/>
                <a:sym typeface="Arial"/>
              </a:rPr>
              <a:t>Student of Computer Science, </a:t>
            </a:r>
            <a:r>
              <a:rPr b="0" baseline="30000" i="1" lang="en-US" sz="2800" u="none" cap="none" strike="noStrike">
                <a:solidFill>
                  <a:schemeClr val="lt1"/>
                </a:solidFill>
                <a:latin typeface="Arial"/>
                <a:ea typeface="Arial"/>
                <a:cs typeface="Arial"/>
                <a:sym typeface="Arial"/>
              </a:rPr>
              <a:t>*</a:t>
            </a:r>
            <a:r>
              <a:rPr b="0" i="1" lang="en-US" sz="2800" u="none" cap="none" strike="noStrike">
                <a:solidFill>
                  <a:schemeClr val="lt1"/>
                </a:solidFill>
                <a:latin typeface="Arial"/>
                <a:ea typeface="Arial"/>
                <a:cs typeface="Arial"/>
                <a:sym typeface="Arial"/>
              </a:rPr>
              <a:t>Supervisor - Faculty of Information Technology  </a:t>
            </a:r>
            <a:endParaRPr b="0" i="0" sz="1400" u="none" cap="none" strike="noStrike">
              <a:solidFill>
                <a:srgbClr val="000000"/>
              </a:solidFill>
              <a:latin typeface="Arial"/>
              <a:ea typeface="Arial"/>
              <a:cs typeface="Arial"/>
              <a:sym typeface="Arial"/>
            </a:endParaRPr>
          </a:p>
        </p:txBody>
      </p:sp>
      <p:graphicFrame>
        <p:nvGraphicFramePr>
          <p:cNvPr id="94" name="Google Shape;94;p1"/>
          <p:cNvGraphicFramePr/>
          <p:nvPr/>
        </p:nvGraphicFramePr>
        <p:xfrm>
          <a:off x="1934320" y="7899401"/>
          <a:ext cx="3000000" cy="3000000"/>
        </p:xfrm>
        <a:graphic>
          <a:graphicData uri="http://schemas.openxmlformats.org/drawingml/2006/table">
            <a:tbl>
              <a:tblPr bandRow="1" firstRow="1">
                <a:noFill/>
                <a:tableStyleId>{B45E5FB3-8D81-49D8-8C2C-C462F429B81F}</a:tableStyleId>
              </a:tblPr>
              <a:tblGrid>
                <a:gridCol w="8757875"/>
                <a:gridCol w="8757875"/>
              </a:tblGrid>
              <a:tr h="7620000">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solidFill>
                            <a:srgbClr val="0070C0"/>
                          </a:solidFill>
                          <a:latin typeface="Arial"/>
                          <a:ea typeface="Arial"/>
                          <a:cs typeface="Arial"/>
                          <a:sym typeface="Arial"/>
                        </a:rPr>
                        <a:t>ASBTRACT</a:t>
                      </a:r>
                      <a:endParaRPr sz="1400" u="none" cap="none" strike="noStrike"/>
                    </a:p>
                    <a:p>
                      <a:pPr indent="0" lvl="0" marL="0" marR="0" rtl="0" algn="just">
                        <a:lnSpc>
                          <a:spcPct val="100000"/>
                        </a:lnSpc>
                        <a:spcBef>
                          <a:spcPts val="0"/>
                        </a:spcBef>
                        <a:spcAft>
                          <a:spcPts val="0"/>
                        </a:spcAft>
                        <a:buClr>
                          <a:srgbClr val="000000"/>
                        </a:buClr>
                        <a:buSzPts val="2800"/>
                        <a:buFont typeface="Arial"/>
                        <a:buNone/>
                      </a:pPr>
                      <a:r>
                        <a:rPr lang="en-US" sz="2800" u="none" cap="none" strike="noStrike">
                          <a:solidFill>
                            <a:schemeClr val="dk1"/>
                          </a:solidFill>
                          <a:latin typeface="Arial"/>
                          <a:ea typeface="Arial"/>
                          <a:cs typeface="Arial"/>
                          <a:sym typeface="Arial"/>
                        </a:rPr>
                        <a:t>This paper presents BN-VN3S, a large-scale Vietnamese news dataset with 972,214 cleaned articles from VnExpress, VietNamNet, and Dân Trí, covering 10 topics from 2019 to 2025. Using this dataset, the authors benchmark 10 models, including traditional machine learning, deep learning, and Transformer-based methods. Results show that deep learning and traditional models perform best overall, with BiGRU achieving the highest macro F1-score of 92.42%, followed by LinearSVC at 92.33%. However, Transformers, especially PhoBERT, are more robust under temporal shifts. The study also reveals strong effects of source bias and training data size. BN-VN3S offers a valuable benchmark and practical guidance for Vietnamese news classification.</a:t>
                      </a:r>
                      <a:endParaRPr sz="1400" u="none" cap="none" strike="noStrike"/>
                    </a:p>
                  </a:txBody>
                  <a:tcPr marT="137150" marB="137150" marR="274325" marL="2743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solidFill>
                            <a:srgbClr val="0070C0"/>
                          </a:solidFill>
                          <a:latin typeface="Arial"/>
                          <a:ea typeface="Arial"/>
                          <a:cs typeface="Arial"/>
                          <a:sym typeface="Arial"/>
                        </a:rPr>
                        <a:t>DATASET </a:t>
                      </a:r>
                      <a:endParaRPr sz="1400" u="none" cap="none" strike="noStrike"/>
                    </a:p>
                    <a:p>
                      <a:pPr indent="0" lvl="0" marL="0" marR="0" rtl="0" algn="l">
                        <a:lnSpc>
                          <a:spcPct val="100000"/>
                        </a:lnSpc>
                        <a:spcBef>
                          <a:spcPts val="0"/>
                        </a:spcBef>
                        <a:spcAft>
                          <a:spcPts val="0"/>
                        </a:spcAft>
                        <a:buClr>
                          <a:srgbClr val="000000"/>
                        </a:buClr>
                        <a:buSzPts val="2800"/>
                        <a:buFont typeface="Arial"/>
                        <a:buNone/>
                      </a:pPr>
                      <a:r>
                        <a:t/>
                      </a:r>
                      <a:endParaRPr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sz="2800" u="none" cap="none" strike="noStrike">
                        <a:solidFill>
                          <a:schemeClr val="dk1"/>
                        </a:solidFill>
                        <a:latin typeface="Arial"/>
                        <a:ea typeface="Arial"/>
                        <a:cs typeface="Arial"/>
                        <a:sym typeface="Arial"/>
                      </a:endParaRPr>
                    </a:p>
                  </a:txBody>
                  <a:tcPr marT="137150" marB="137150" marR="274325" marL="2743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4267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rgbClr val="0070C0"/>
                          </a:solidFill>
                          <a:latin typeface="Arial"/>
                          <a:ea typeface="Arial"/>
                          <a:cs typeface="Arial"/>
                          <a:sym typeface="Arial"/>
                        </a:rPr>
                        <a:t>PREPROCESSING PIPELINE</a:t>
                      </a:r>
                      <a:endParaRPr b="1" sz="2800" u="none" cap="none" strike="noStrike">
                        <a:solidFill>
                          <a:schemeClr val="dk1"/>
                        </a:solidFill>
                        <a:latin typeface="Arial"/>
                        <a:ea typeface="Arial"/>
                        <a:cs typeface="Arial"/>
                        <a:sym typeface="Arial"/>
                      </a:endParaRPr>
                    </a:p>
                    <a:p>
                      <a:pPr indent="-514350" lvl="0" marL="514350" marR="0" rtl="0" algn="l">
                        <a:lnSpc>
                          <a:spcPct val="100000"/>
                        </a:lnSpc>
                        <a:spcBef>
                          <a:spcPts val="0"/>
                        </a:spcBef>
                        <a:spcAft>
                          <a:spcPts val="0"/>
                        </a:spcAft>
                        <a:buClr>
                          <a:schemeClr val="dk1"/>
                        </a:buClr>
                        <a:buSzPts val="2800"/>
                        <a:buFont typeface="Arial"/>
                        <a:buAutoNum type="arabicPeriod"/>
                      </a:pPr>
                      <a:r>
                        <a:rPr b="1" lang="en-US" sz="2800" u="none" cap="none" strike="noStrike">
                          <a:latin typeface="Arial"/>
                          <a:ea typeface="Arial"/>
                          <a:cs typeface="Arial"/>
                          <a:sym typeface="Arial"/>
                        </a:rPr>
                        <a:t>Remove HTML, JavaScript, ads and boilerplate text</a:t>
                      </a:r>
                      <a:endParaRPr b="1" sz="2800" u="none" cap="none" strike="noStrike">
                        <a:solidFill>
                          <a:schemeClr val="dk1"/>
                        </a:solidFill>
                        <a:latin typeface="Arial"/>
                        <a:ea typeface="Arial"/>
                        <a:cs typeface="Arial"/>
                        <a:sym typeface="Arial"/>
                      </a:endParaRPr>
                    </a:p>
                    <a:p>
                      <a:pPr indent="-514350" lvl="0" marL="514350" marR="0" rtl="0" algn="l">
                        <a:lnSpc>
                          <a:spcPct val="100000"/>
                        </a:lnSpc>
                        <a:spcBef>
                          <a:spcPts val="0"/>
                        </a:spcBef>
                        <a:spcAft>
                          <a:spcPts val="0"/>
                        </a:spcAft>
                        <a:buClr>
                          <a:schemeClr val="dk1"/>
                        </a:buClr>
                        <a:buSzPts val="2800"/>
                        <a:buFont typeface="Arial"/>
                        <a:buAutoNum type="arabicPeriod"/>
                      </a:pPr>
                      <a:r>
                        <a:rPr b="1" lang="en-US" sz="2800" u="none" cap="none" strike="noStrike">
                          <a:latin typeface="Arial"/>
                          <a:ea typeface="Arial"/>
                          <a:cs typeface="Arial"/>
                          <a:sym typeface="Arial"/>
                        </a:rPr>
                        <a:t>Deduplicate exact and near-duplicate articles</a:t>
                      </a:r>
                      <a:r>
                        <a:rPr b="1" lang="en-US" sz="2800" u="none" cap="none" strike="noStrike">
                          <a:solidFill>
                            <a:schemeClr val="dk1"/>
                          </a:solidFill>
                          <a:latin typeface="Arial"/>
                          <a:ea typeface="Arial"/>
                          <a:cs typeface="Arial"/>
                          <a:sym typeface="Arial"/>
                        </a:rPr>
                        <a:t> </a:t>
                      </a:r>
                      <a:endParaRPr sz="1400" u="none" cap="none" strike="noStrike"/>
                    </a:p>
                    <a:p>
                      <a:pPr indent="-514350" lvl="0" marL="514350" marR="0" rtl="0" algn="l">
                        <a:lnSpc>
                          <a:spcPct val="100000"/>
                        </a:lnSpc>
                        <a:spcBef>
                          <a:spcPts val="0"/>
                        </a:spcBef>
                        <a:spcAft>
                          <a:spcPts val="0"/>
                        </a:spcAft>
                        <a:buClr>
                          <a:schemeClr val="dk1"/>
                        </a:buClr>
                        <a:buSzPts val="2800"/>
                        <a:buFont typeface="Arial"/>
                        <a:buAutoNum type="arabicPeriod"/>
                      </a:pPr>
                      <a:r>
                        <a:rPr b="1" lang="en-US" sz="2800" u="none" cap="none" strike="noStrike">
                          <a:latin typeface="Arial"/>
                          <a:ea typeface="Arial"/>
                          <a:cs typeface="Arial"/>
                          <a:sym typeface="Arial"/>
                        </a:rPr>
                        <a:t>Filter atypical article lengths</a:t>
                      </a:r>
                      <a:endParaRPr sz="1400" u="none" cap="none" strike="noStrike"/>
                    </a:p>
                    <a:p>
                      <a:pPr indent="-514350" lvl="0" marL="514350" marR="0" rtl="0" algn="l">
                        <a:lnSpc>
                          <a:spcPct val="100000"/>
                        </a:lnSpc>
                        <a:spcBef>
                          <a:spcPts val="0"/>
                        </a:spcBef>
                        <a:spcAft>
                          <a:spcPts val="0"/>
                        </a:spcAft>
                        <a:buClr>
                          <a:schemeClr val="dk1"/>
                        </a:buClr>
                        <a:buSzPts val="2800"/>
                        <a:buFont typeface="Arial"/>
                        <a:buAutoNum type="arabicPeriod"/>
                      </a:pPr>
                      <a:r>
                        <a:rPr b="1" lang="en-US" sz="2800" u="none" cap="none" strike="noStrike">
                          <a:latin typeface="Arial"/>
                          <a:ea typeface="Arial"/>
                          <a:cs typeface="Arial"/>
                          <a:sym typeface="Arial"/>
                        </a:rPr>
                        <a:t>Map source-specific labels to 10 common categories</a:t>
                      </a:r>
                      <a:endParaRPr sz="1400" u="none" cap="none" strike="noStrike"/>
                    </a:p>
                    <a:p>
                      <a:pPr indent="-514350" lvl="0" marL="514350" marR="0" rtl="0" algn="l">
                        <a:lnSpc>
                          <a:spcPct val="100000"/>
                        </a:lnSpc>
                        <a:spcBef>
                          <a:spcPts val="0"/>
                        </a:spcBef>
                        <a:spcAft>
                          <a:spcPts val="0"/>
                        </a:spcAft>
                        <a:buClr>
                          <a:schemeClr val="dk1"/>
                        </a:buClr>
                        <a:buSzPts val="2800"/>
                        <a:buFont typeface="Arial"/>
                        <a:buAutoNum type="arabicPeriod"/>
                      </a:pPr>
                      <a:r>
                        <a:rPr b="1" lang="en-US" sz="2800" u="none" cap="none" strike="noStrike">
                          <a:latin typeface="Arial"/>
                          <a:ea typeface="Arial"/>
                          <a:cs typeface="Arial"/>
                          <a:sym typeface="Arial"/>
                        </a:rPr>
                        <a:t>Segment Vietnamese words using VnCoreNLP</a:t>
                      </a:r>
                      <a:endParaRPr b="1" sz="2800" u="none" cap="none" strike="noStrike">
                        <a:solidFill>
                          <a:schemeClr val="dk1"/>
                        </a:solidFill>
                        <a:latin typeface="Arial"/>
                        <a:ea typeface="Arial"/>
                        <a:cs typeface="Arial"/>
                        <a:sym typeface="Arial"/>
                      </a:endParaRPr>
                    </a:p>
                  </a:txBody>
                  <a:tcPr marT="137150" marB="137150" marR="274325" marL="2743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70C0"/>
                        </a:buClr>
                        <a:buSzPts val="2800"/>
                        <a:buFont typeface="Arial"/>
                        <a:buNone/>
                      </a:pPr>
                      <a:r>
                        <a:rPr b="1" lang="en-US" sz="2800" u="none" cap="none" strike="noStrike">
                          <a:solidFill>
                            <a:srgbClr val="0070C0"/>
                          </a:solidFill>
                          <a:latin typeface="Arial"/>
                          <a:ea typeface="Arial"/>
                          <a:cs typeface="Arial"/>
                          <a:sym typeface="Arial"/>
                        </a:rPr>
                        <a:t>OVERALL RESULT</a:t>
                      </a:r>
                      <a:endParaRPr b="1" sz="2800" u="none" cap="none" strike="noStrike">
                        <a:solidFill>
                          <a:schemeClr val="dk1"/>
                        </a:solidFill>
                        <a:latin typeface="Arial"/>
                        <a:ea typeface="Arial"/>
                        <a:cs typeface="Arial"/>
                        <a:sym typeface="Arial"/>
                      </a:endParaRPr>
                    </a:p>
                  </a:txBody>
                  <a:tcPr marT="137150" marB="137150" marR="274325" marL="2743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322995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rgbClr val="0070C0"/>
                          </a:solidFill>
                          <a:latin typeface="Arial"/>
                          <a:ea typeface="Arial"/>
                          <a:cs typeface="Arial"/>
                          <a:sym typeface="Arial"/>
                        </a:rPr>
                        <a:t>DATA SCALE IMPACT</a:t>
                      </a:r>
                      <a:endParaRPr b="1" sz="2800" u="none" cap="none" strike="noStrike">
                        <a:solidFill>
                          <a:srgbClr val="0070C0"/>
                        </a:solidFill>
                        <a:latin typeface="Arial"/>
                        <a:ea typeface="Arial"/>
                        <a:cs typeface="Arial"/>
                        <a:sym typeface="Arial"/>
                      </a:endParaRPr>
                    </a:p>
                  </a:txBody>
                  <a:tcPr marT="137150" marB="137150" marR="274325" marL="2743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solidFill>
                          <a:schemeClr val="dk1"/>
                        </a:solidFill>
                        <a:latin typeface="Arial"/>
                        <a:ea typeface="Arial"/>
                        <a:cs typeface="Arial"/>
                        <a:sym typeface="Arial"/>
                      </a:endParaRPr>
                    </a:p>
                  </a:txBody>
                  <a:tcPr marT="137150" marB="137150" marR="274325" marL="2743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3229950">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solidFill>
                          <a:schemeClr val="dk1"/>
                        </a:solidFill>
                        <a:latin typeface="Arial"/>
                        <a:ea typeface="Arial"/>
                        <a:cs typeface="Arial"/>
                        <a:sym typeface="Arial"/>
                      </a:endParaRPr>
                    </a:p>
                  </a:txBody>
                  <a:tcPr marT="137150" marB="137150" marR="274325" marL="2743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solidFill>
                          <a:schemeClr val="dk1"/>
                        </a:solidFill>
                        <a:latin typeface="Arial"/>
                        <a:ea typeface="Arial"/>
                        <a:cs typeface="Arial"/>
                        <a:sym typeface="Arial"/>
                      </a:endParaRPr>
                    </a:p>
                  </a:txBody>
                  <a:tcPr marT="137150" marB="137150" marR="274325" marL="2743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bl>
          </a:graphicData>
        </a:graphic>
      </p:graphicFrame>
      <p:graphicFrame>
        <p:nvGraphicFramePr>
          <p:cNvPr id="95" name="Google Shape;95;p1"/>
          <p:cNvGraphicFramePr/>
          <p:nvPr/>
        </p:nvGraphicFramePr>
        <p:xfrm>
          <a:off x="10712225" y="16733025"/>
          <a:ext cx="3000000" cy="3000000"/>
        </p:xfrm>
        <a:graphic>
          <a:graphicData uri="http://schemas.openxmlformats.org/drawingml/2006/table">
            <a:tbl>
              <a:tblPr bandCol="1" bandRow="1">
                <a:noFill/>
                <a:tableStyleId>{395E1880-5C12-4A72-94B3-8FEEAC9D5E90}</a:tableStyleId>
              </a:tblPr>
              <a:tblGrid>
                <a:gridCol w="1496500"/>
                <a:gridCol w="1496500"/>
                <a:gridCol w="1496500"/>
                <a:gridCol w="1496500"/>
                <a:gridCol w="1496500"/>
                <a:gridCol w="1496500"/>
              </a:tblGrid>
              <a:tr h="928775">
                <a:tc>
                  <a:txBody>
                    <a:bodyPr/>
                    <a:lstStyle/>
                    <a:p>
                      <a:pPr indent="45720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Model</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rPr b="1" lang="en-US" sz="1800" u="none" cap="none" strike="noStrike">
                          <a:latin typeface="Times New Roman"/>
                          <a:ea typeface="Times New Roman"/>
                          <a:cs typeface="Times New Roman"/>
                          <a:sym typeface="Times New Roman"/>
                        </a:rPr>
                        <a:t>AUC</a:t>
                      </a:r>
                      <a:endParaRPr b="1" sz="18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rPr b="1" lang="en-US" sz="1800" u="none" cap="none" strike="noStrike">
                          <a:latin typeface="Times New Roman"/>
                          <a:ea typeface="Times New Roman"/>
                          <a:cs typeface="Times New Roman"/>
                          <a:sym typeface="Times New Roman"/>
                        </a:rPr>
                        <a:t>Accuracy</a:t>
                      </a:r>
                      <a:endParaRPr b="1" sz="18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Macro-F1</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Recall</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Precision</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928775">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Naive Bayes</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457200" lvl="0" marL="0" marR="0" rtl="0" algn="l">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98.83</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87.06</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86.36</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87.09</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86.03</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928775">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Logistic Regression</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457200" lvl="0" marL="0" marR="0" rtl="0" algn="l">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99.55</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91.92</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91.36</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92.04</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90.83</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928775">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LinearSVC</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457200" lvl="0" marL="0" marR="0" rtl="0" algn="l">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99.55</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92.92</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92.33</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92.31</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92.38</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928775">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SGDClassifier</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457200" lvl="0" marL="0" marR="0" rtl="0" algn="l">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98.95</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87.73</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87.03</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87.68</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86.55</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928775">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TextCNN</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457200" lvl="0" marL="0" marR="0" rtl="0" algn="l">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99.41</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91.91</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91.27</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91.23</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91.32</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928775">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sng" cap="none" strike="noStrike">
                          <a:latin typeface="Times New Roman"/>
                          <a:ea typeface="Times New Roman"/>
                          <a:cs typeface="Times New Roman"/>
                          <a:sym typeface="Times New Roman"/>
                        </a:rPr>
                        <a:t>BiGRU</a:t>
                      </a:r>
                      <a:endParaRPr b="1" sz="1900" u="sng"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457200" lvl="0" marL="0" marR="0" rtl="0" algn="l">
                        <a:lnSpc>
                          <a:spcPct val="150000"/>
                        </a:lnSpc>
                        <a:spcBef>
                          <a:spcPts val="0"/>
                        </a:spcBef>
                        <a:spcAft>
                          <a:spcPts val="0"/>
                        </a:spcAft>
                        <a:buClr>
                          <a:srgbClr val="000000"/>
                        </a:buClr>
                        <a:buSzPts val="1900"/>
                        <a:buFont typeface="Arial"/>
                        <a:buNone/>
                      </a:pPr>
                      <a:r>
                        <a:rPr b="1" lang="en-US" sz="1900" u="sng" cap="none" strike="noStrike">
                          <a:latin typeface="Times New Roman"/>
                          <a:ea typeface="Times New Roman"/>
                          <a:cs typeface="Times New Roman"/>
                          <a:sym typeface="Times New Roman"/>
                        </a:rPr>
                        <a:t>99.61</a:t>
                      </a:r>
                      <a:endParaRPr b="1" sz="1900" u="sng"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sng" cap="none" strike="noStrike">
                          <a:latin typeface="Times New Roman"/>
                          <a:ea typeface="Times New Roman"/>
                          <a:cs typeface="Times New Roman"/>
                          <a:sym typeface="Times New Roman"/>
                        </a:rPr>
                        <a:t>92.43</a:t>
                      </a:r>
                      <a:endParaRPr b="1" sz="1900" u="sng"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sng" cap="none" strike="noStrike">
                          <a:latin typeface="Times New Roman"/>
                          <a:ea typeface="Times New Roman"/>
                          <a:cs typeface="Times New Roman"/>
                          <a:sym typeface="Times New Roman"/>
                        </a:rPr>
                        <a:t>92.42</a:t>
                      </a:r>
                      <a:endParaRPr b="1" sz="1900" u="sng"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sng" cap="none" strike="noStrike">
                          <a:latin typeface="Times New Roman"/>
                          <a:ea typeface="Times New Roman"/>
                          <a:cs typeface="Times New Roman"/>
                          <a:sym typeface="Times New Roman"/>
                        </a:rPr>
                        <a:t>92.47</a:t>
                      </a:r>
                      <a:endParaRPr b="1" sz="1900" u="sng"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sng" cap="none" strike="noStrike">
                          <a:latin typeface="Times New Roman"/>
                          <a:ea typeface="Times New Roman"/>
                          <a:cs typeface="Times New Roman"/>
                          <a:sym typeface="Times New Roman"/>
                        </a:rPr>
                        <a:t>92.43</a:t>
                      </a:r>
                      <a:endParaRPr b="1" sz="1900" u="sng"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928775">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TextRCNN</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457200" lvl="0" marL="0" marR="0" rtl="0" algn="l">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99.59</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92.12</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92.16</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92.20</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92.12</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928775">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mBERT</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457200" lvl="0" marL="0" marR="0" rtl="0" algn="l">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97.04</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78.10</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78.73</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80.30</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78.10</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928775">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XLM-R</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457200" lvl="0" marL="0" marR="0" rtl="0" algn="l">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97.94</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80.80</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81.60</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82.78</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80.80</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928775">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PhoBERT</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457200" lvl="0" marL="0" marR="0" rtl="0" algn="l">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99.01</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86.10</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87.98</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87.98</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900"/>
                        <a:buFont typeface="Arial"/>
                        <a:buNone/>
                      </a:pPr>
                      <a:r>
                        <a:rPr b="1" lang="en-US" sz="1900" u="none" cap="none" strike="noStrike">
                          <a:latin typeface="Times New Roman"/>
                          <a:ea typeface="Times New Roman"/>
                          <a:cs typeface="Times New Roman"/>
                          <a:sym typeface="Times New Roman"/>
                        </a:rPr>
                        <a:t>86.10</a:t>
                      </a:r>
                      <a:endParaRPr b="1" sz="1900" u="none" cap="none" strike="noStrike">
                        <a:latin typeface="Times New Roman"/>
                        <a:ea typeface="Times New Roman"/>
                        <a:cs typeface="Times New Roman"/>
                        <a:sym typeface="Times New Roman"/>
                      </a:endParaRPr>
                    </a:p>
                  </a:txBody>
                  <a:tcPr marT="9525" marB="9525" marR="9525" marL="95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pic>
        <p:nvPicPr>
          <p:cNvPr id="96" name="Google Shape;96;p1" title="data_scale_impact_learning_curves.png"/>
          <p:cNvPicPr preferRelativeResize="0"/>
          <p:nvPr/>
        </p:nvPicPr>
        <p:blipFill rotWithShape="1">
          <a:blip r:embed="rId4">
            <a:alphaModFix/>
          </a:blip>
          <a:srcRect b="0" l="0" r="0" t="0"/>
          <a:stretch/>
        </p:blipFill>
        <p:spPr>
          <a:xfrm>
            <a:off x="1622125" y="20856875"/>
            <a:ext cx="8730552" cy="5992074"/>
          </a:xfrm>
          <a:prstGeom prst="rect">
            <a:avLst/>
          </a:prstGeom>
          <a:noFill/>
          <a:ln>
            <a:noFill/>
          </a:ln>
        </p:spPr>
      </p:pic>
      <p:pic>
        <p:nvPicPr>
          <p:cNvPr id="97" name="Google Shape;97;p1" title="ChatGPT Image May 6, 2026, 03_22_09 PM.png"/>
          <p:cNvPicPr preferRelativeResize="0"/>
          <p:nvPr/>
        </p:nvPicPr>
        <p:blipFill rotWithShape="1">
          <a:blip r:embed="rId5">
            <a:alphaModFix/>
          </a:blip>
          <a:srcRect b="0" l="0" r="0" t="0"/>
          <a:stretch/>
        </p:blipFill>
        <p:spPr>
          <a:xfrm>
            <a:off x="10864575" y="8657675"/>
            <a:ext cx="8730549" cy="6871825"/>
          </a:xfrm>
          <a:prstGeom prst="rect">
            <a:avLst/>
          </a:prstGeom>
          <a:noFill/>
          <a:ln>
            <a:noFill/>
          </a:ln>
        </p:spPr>
      </p:pic>
      <p:pic>
        <p:nvPicPr>
          <p:cNvPr id="98" name="Google Shape;98;p1" title="qrcode_344922801_44d7629756c17465579ffc2afa5c8776.png"/>
          <p:cNvPicPr preferRelativeResize="0"/>
          <p:nvPr/>
        </p:nvPicPr>
        <p:blipFill rotWithShape="1">
          <a:blip r:embed="rId6">
            <a:alphaModFix/>
          </a:blip>
          <a:srcRect b="0" l="0" r="0" t="0"/>
          <a:stretch/>
        </p:blipFill>
        <p:spPr>
          <a:xfrm>
            <a:off x="17091475" y="3405200"/>
            <a:ext cx="2971825" cy="29718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CCBE85ED5C844403B09966F179E09C30_13</vt:lpwstr>
  </property>
  <property fmtid="{D5CDD505-2E9C-101B-9397-08002B2CF9AE}" pid="3" name="KSOProductBuildVer">
    <vt:lpwstr>1033-12.2.0.13215</vt:lpwstr>
  </property>
</Properties>
</file>